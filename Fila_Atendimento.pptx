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75"/>
            <a:ext cx="4572000" cy="1249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kern="0" spc="400" dirty="0">
              <a:solidFill>
                <a:srgbClr val="06B6D4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62810" y="184150"/>
            <a:ext cx="4572000" cy="2604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4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  <a:p>
            <a:pPr marL="0" indent="0" algn="ctr">
              <a:buNone/>
            </a:pPr>
            <a:r>
              <a:rPr lang="pt-PT" alt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INSTITUTO POLITÉCNICO </a:t>
            </a:r>
            <a:endParaRPr lang="pt-PT" alt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  <a:p>
            <a:pPr marL="0" indent="0" algn="ctr">
              <a:buNone/>
            </a:pPr>
            <a:r>
              <a:rPr lang="pt-PT" alt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UNIKIVI-UÍGE</a:t>
            </a:r>
            <a:endParaRPr lang="pt-PT" alt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28803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FIFO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29260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pt-PT" alt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2941955"/>
            <a:ext cx="8107680" cy="17767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alt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TEMA: SISTEMA DE FILA DE ATENDIMENTO</a:t>
            </a:r>
            <a:endParaRPr lang="pt-PT" altLang="en-US" sz="11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endParaRPr lang="pt-PT" altLang="en-US" sz="11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pt-PT" alt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Iº ANO			    INTEGRANTES DO GRUPO:</a:t>
            </a:r>
            <a:endParaRPr lang="pt-PT" altLang="en-US" sz="14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pt-PT" alt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CURSO: ENG. INFORMÁTICA               Domingos Balu Ramiro Moco</a:t>
            </a:r>
            <a:endParaRPr lang="pt-PT" altLang="en-US" sz="14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pt-PT" alt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TURMA: 101		               M</a:t>
            </a:r>
            <a:r>
              <a:rPr lang="en-US" altLang="pt-PT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aria Monesa Jeremias camutal</a:t>
            </a:r>
            <a:r>
              <a:rPr lang="pt-PT" alt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 </a:t>
            </a:r>
            <a:endParaRPr lang="pt-PT" altLang="en-US" sz="14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pt-PT" alt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                                                             </a:t>
            </a:r>
            <a:r>
              <a:rPr lang="en-US" altLang="pt-PT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Munongo David Mbala</a:t>
            </a:r>
            <a:endParaRPr lang="en-US" altLang="pt-PT" sz="14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pt-PT" alt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 		                              </a:t>
            </a:r>
            <a:r>
              <a:rPr lang="en-US" altLang="pt-PT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Nlando Castigo</a:t>
            </a:r>
            <a:r>
              <a:rPr lang="en-US" altLang="pt-PT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 </a:t>
            </a:r>
            <a:endParaRPr lang="en-US" altLang="pt-PT" sz="11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2743200" lvl="6" indent="457200">
              <a:buNone/>
            </a:pPr>
            <a:endParaRPr lang="pt-PT" altLang="en-US" sz="11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endParaRPr lang="pt-PT" altLang="en-US" sz="11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pt-PT" alt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UÍGE, AOS 17 DE ABRIL 2026</a:t>
            </a:r>
            <a:endParaRPr lang="pt-PT" altLang="en-US" sz="1100" dirty="0"/>
          </a:p>
        </p:txBody>
      </p:sp>
      <p:pic>
        <p:nvPicPr>
          <p:cNvPr id="28" name="Imagem 27" descr="Sem títul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3485" y="184150"/>
            <a:ext cx="1458595" cy="1278890"/>
          </a:xfrm>
          <a:prstGeom prst="rect">
            <a:avLst/>
          </a:prstGeom>
        </p:spPr>
      </p:pic>
      <p:sp>
        <p:nvSpPr>
          <p:cNvPr id="32" name="Caixa de Texto 31"/>
          <p:cNvSpPr txBox="1"/>
          <p:nvPr/>
        </p:nvSpPr>
        <p:spPr>
          <a:xfrm>
            <a:off x="1929130" y="2019935"/>
            <a:ext cx="5286375" cy="116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t-PT" alt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TRABALHO EM GRUPO</a:t>
            </a:r>
            <a:endParaRPr lang="pt-PT" altLang="en-US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algn="ctr"/>
            <a:r>
              <a:rPr lang="pt-PT" alt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LÓGICA DE PROGRAMAÇÃO</a:t>
            </a:r>
            <a:endParaRPr lang="pt-PT" altLang="en-US" dirty="0"/>
          </a:p>
          <a:p>
            <a:endParaRPr lang="pt-PT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O QUE É UMA FILA?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3474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</a:rPr>
              <a:t>Definição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</a:rPr>
              <a:t>Uma fila é uma estrutura de dados linear onde os elementos são inseridos no final e removidos do início.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65760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A4C4"/>
                </a:solidFill>
              </a:rPr>
              <a:t>Regra principal: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</a:rPr>
              <a:t>✔  Entrar sempre pelo fim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</a:rPr>
              <a:t>✔  Sair sempre pelo início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</a:rPr>
              <a:t>✔  Quem chega primeiro, sai primeiro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Analogia do Dia a Dia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73736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A56DB">
              <a:alpha val="6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737360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1764792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Fila do banco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267712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A56DB">
              <a:alpha val="6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267712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229514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Fila de parque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798064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A56DB">
              <a:alpha val="6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98064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🖨️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825496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Fila de impressão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328416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A56DB">
              <a:alpha val="6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328416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📞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355848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Fila de chamadas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3858768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A56DB">
              <a:alpha val="6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58768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3886200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Fila do drive-thru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</a:rPr>
              <a:t>FIFO — PRIMEIRO A ENTRAR, PRIMEIRO A SAIR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SAÍDA (atendido)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ENTRADA (novo cliente)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0" y="2331720"/>
            <a:ext cx="5943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2148840"/>
            <a:ext cx="0" cy="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8686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920240"/>
            <a:ext cx="118872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92024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altLang="en-US" sz="2000" b="1" dirty="0">
                <a:solidFill>
                  <a:srgbClr val="0D1B3E"/>
                </a:solidFill>
              </a:rPr>
              <a:t>P</a:t>
            </a:r>
            <a:r>
              <a:rPr lang="en-US" sz="2000" b="1" dirty="0">
                <a:solidFill>
                  <a:srgbClr val="0D1B3E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1920240"/>
            <a:ext cx="11887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92024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altLang="en-US" sz="2000" b="1" dirty="0">
                <a:solidFill>
                  <a:srgbClr val="0D1B3E"/>
                </a:solidFill>
              </a:rPr>
              <a:t>P</a:t>
            </a:r>
            <a:r>
              <a:rPr lang="en-US" sz="2000" b="1" dirty="0">
                <a:solidFill>
                  <a:srgbClr val="0D1B3E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31920" y="1920240"/>
            <a:ext cx="11887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92024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altLang="en-US" sz="2000" b="1" dirty="0">
                <a:solidFill>
                  <a:srgbClr val="0D1B3E"/>
                </a:solidFill>
              </a:rPr>
              <a:t>P</a:t>
            </a:r>
            <a:r>
              <a:rPr lang="en-US" sz="2000" b="1" dirty="0">
                <a:solidFill>
                  <a:srgbClr val="0D1B3E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12080" y="1920240"/>
            <a:ext cx="11887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92024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altLang="en-US" sz="2000" b="1" dirty="0">
                <a:solidFill>
                  <a:srgbClr val="0D1B3E"/>
                </a:solidFill>
              </a:rPr>
              <a:t>P</a:t>
            </a:r>
            <a:r>
              <a:rPr lang="en-US" sz="2000" b="1" dirty="0">
                <a:solidFill>
                  <a:srgbClr val="0D1B3E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118872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92024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altLang="en-US" sz="2000" b="1" dirty="0">
                <a:solidFill>
                  <a:srgbClr val="0D1B3E"/>
                </a:solidFill>
              </a:rPr>
              <a:t>P</a:t>
            </a:r>
            <a:r>
              <a:rPr lang="en-US" sz="2000" b="1" dirty="0">
                <a:solidFill>
                  <a:srgbClr val="0D1B3E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371600" y="3017520"/>
            <a:ext cx="274320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01752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Próximo a sair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017520"/>
            <a:ext cx="27432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0175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Aguardando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017520"/>
            <a:ext cx="2743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1752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Último a entrar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solidFill>
            <a:srgbClr val="1A56DB">
              <a:alpha val="3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3474720"/>
            <a:ext cx="6035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💡  </a:t>
            </a:r>
            <a:r>
              <a:rPr lang="pt-PT" altLang="en-US" sz="1200" dirty="0">
                <a:solidFill>
                  <a:srgbClr val="FFFFFF"/>
                </a:solidFill>
              </a:rPr>
              <a:t>P</a:t>
            </a:r>
            <a:r>
              <a:rPr lang="en-US" sz="1200" dirty="0">
                <a:solidFill>
                  <a:srgbClr val="FFFFFF"/>
                </a:solidFill>
              </a:rPr>
              <a:t>1 entrou primeiro → </a:t>
            </a:r>
            <a:r>
              <a:rPr lang="pt-PT" altLang="en-US" sz="1200" dirty="0">
                <a:solidFill>
                  <a:srgbClr val="FFFFFF"/>
                </a:solidFill>
              </a:rPr>
              <a:t>P</a:t>
            </a:r>
            <a:r>
              <a:rPr lang="en-US" sz="1200" dirty="0">
                <a:solidFill>
                  <a:srgbClr val="FFFFFF"/>
                </a:solidFill>
              </a:rPr>
              <a:t>1 será atendido primeiro.  </a:t>
            </a:r>
            <a:r>
              <a:rPr lang="pt-PT" altLang="en-US" sz="1200" dirty="0">
                <a:solidFill>
                  <a:srgbClr val="FFFFFF"/>
                </a:solidFill>
              </a:rPr>
              <a:t>P</a:t>
            </a:r>
            <a:r>
              <a:rPr lang="en-US" sz="1200" dirty="0">
                <a:solidFill>
                  <a:srgbClr val="FFFFFF"/>
                </a:solidFill>
              </a:rPr>
              <a:t>5 entrou por último → </a:t>
            </a:r>
            <a:r>
              <a:rPr lang="pt-PT" altLang="en-US" sz="1200" dirty="0">
                <a:solidFill>
                  <a:srgbClr val="FFFFFF"/>
                </a:solidFill>
              </a:rPr>
              <a:t>P</a:t>
            </a:r>
            <a:r>
              <a:rPr lang="en-US" sz="1200" dirty="0">
                <a:solidFill>
                  <a:srgbClr val="FFFFFF"/>
                </a:solidFill>
              </a:rPr>
              <a:t>5 espera mais.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AS 3 OPERAÇÕES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E6F9F3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Enfileirar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ENTRAR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Adicionar na fila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25603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Coloca um novo elemento no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final da fila.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fim ← fim + 1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fila[fim] ← valor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Desenfileirar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23360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− SAIR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26771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6DB"/>
                </a:solidFill>
              </a:rPr>
              <a:t>Atender cliente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651760"/>
            <a:ext cx="25603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69748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Remove o elemento que está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 início da fila.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valor ← fila[inicio]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inicio ← inicio + 1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051560"/>
            <a:ext cx="2743200" cy="3749040"/>
          </a:xfrm>
          <a:prstGeom prst="rect">
            <a:avLst/>
          </a:prstGeom>
          <a:solidFill>
            <a:srgbClr val="FEF9EC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Verificar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95160" y="1783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? 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26771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Status da fila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651760"/>
            <a:ext cx="25603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69748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Checa se a fila está vazia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 cheia antes de operar.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Vazia:  inicio &gt; fim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Cheia:  fim = 10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6B6D4"/>
                </a:solidFill>
              </a:rPr>
              <a:t>COMO O CÓDIGO ORGANIZA A FILA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</a:rPr>
              <a:t>Vetor  fila[1..10]  →  10 espaços na memória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1323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7132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</a:rPr>
              <a:t>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[1]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005840"/>
            <a:ext cx="71323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05840"/>
            <a:ext cx="7132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</a:rPr>
              <a:t>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[2]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005840"/>
            <a:ext cx="71323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005840"/>
            <a:ext cx="7132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</a:rPr>
              <a:t>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[3]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1005840"/>
            <a:ext cx="71323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005840"/>
            <a:ext cx="7132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[4]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1005840"/>
            <a:ext cx="71323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005840"/>
            <a:ext cx="7132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</a:rPr>
              <a:t>21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[5]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005840"/>
            <a:ext cx="713232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[6]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713232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[7]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1005840"/>
            <a:ext cx="713232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[8]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1005840"/>
            <a:ext cx="713232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[9]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1005840"/>
            <a:ext cx="713232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618488"/>
            <a:ext cx="71323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[10]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075688"/>
            <a:ext cx="0" cy="32004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4231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inicio = 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39896" y="2075688"/>
            <a:ext cx="0" cy="320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1256" y="24231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fim =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743200"/>
            <a:ext cx="2743200" cy="2103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743200"/>
            <a:ext cx="54864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8346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inicio_da_fila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1546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= 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47472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Aponta para o PRIMEIRO cliente.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Quando ele sai, este número sobe.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2743200"/>
            <a:ext cx="2743200" cy="210312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37560" y="274320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28346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fim_da_fila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74720" y="31546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= 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0" y="347472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Aponta para o ÚLTIMO cliente.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Quando alguém entra, este número sobe.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2743200"/>
            <a:ext cx="2743200" cy="2103120"/>
          </a:xfrm>
          <a:prstGeom prst="rect">
            <a:avLst/>
          </a:prstGeom>
          <a:solidFill>
            <a:srgbClr val="0D1B3E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274320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8346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fila[inicio] ≤ fila[fim]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46520" y="31546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= fila ocupada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46520" y="347472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Condição para saber se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 fila tem alguém.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</a:rPr>
              <a:t>📄  CÓDIGO — DECLARAÇÃO E INICIALIZAÇÃO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60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960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91440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4C4"/>
                </a:solidFill>
              </a:rPr>
              <a:t>SistemaFilaAtendimento.por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859536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8229600" cy="3520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algoritmo "SistemaFilaAtendimento"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// Guarda os clientes (máximo 10 na fila)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fila : vetor[1..10] de inteiro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// inicio_da_fila → aponta para o 1º da fila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// fim_da_fila   → aponta para o último da fila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inicio_da_fila, fim_da_fila : inteiro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opcao, valor, i : inteiro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inicio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inicio_da_fila &lt;- 1   // fila começa em 1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fim_da_fila    &lt;- 0   // 0 = fila vazia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1A25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</a:rPr>
              <a:t>💡  Por que inicio=1 e fim=0?  Porque com fim &lt; inicio a fila começa vazia!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</a:rPr>
              <a:t>✚  OPÇÃO 1 — ENTRAR NA FILA  (Enqueue)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0352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502920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caso </a:t>
            </a: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se </a:t>
            </a: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fim_da_fila &lt; 10</a:t>
            </a: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entao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Avança o marcador do fim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fim_da_fila &lt;- fim_da_fila + 1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Pede o número do cliente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escreva("Número do cliente: ")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leia(valor)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Guarda o cliente no vetor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fila[fim_da_fila] &lt;- valor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senao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escreval("Fila cheia!")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fimse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3108960" cy="4160520"/>
          </a:xfrm>
          <a:prstGeom prst="rect">
            <a:avLst/>
          </a:prstGeom>
          <a:solidFill>
            <a:srgbClr val="0F203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96012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Como funciona?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137160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3716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53312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Verifica se tem espaço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(fim &lt; 10)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20299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0299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Avança o ponteiro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do fim (+1)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268833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6883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67004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Lê o número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do novo cliente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34670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3467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328416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Salva no vetor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na posição [fim]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400507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40050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986784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Se lotado: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avisa 'Fila cheia!'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✖  OPÇÃO 2 — ATENDER CLIENTE  (Dequeue)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0352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5029200" cy="3017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caso </a:t>
            </a: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se </a:t>
            </a: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inicio_da_fila &lt;= fim_da_fila</a:t>
            </a: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entao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Mostra quem está sendo atendido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escreval("Atendendo: ", fila[inicio_da_fila])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'Remove' avançando o ponteiro do início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inicio_da_fila &lt;- inicio_da_fila + 1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senao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escreval("Fila vazia!")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fimse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3108960" cy="3200400"/>
          </a:xfrm>
          <a:prstGeom prst="rect">
            <a:avLst/>
          </a:prstGeom>
          <a:solidFill>
            <a:srgbClr val="0F2030"/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96012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Passo a passo: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1371600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3716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53312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Verifica se fila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não está vazia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2029968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0299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Mostra o cliente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do início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2688336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6883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67004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Avança o ponteiro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do início (+1)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346704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3467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328416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Se vazia: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avisa 'Fila vazia!'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⚠️  Importante: o dado não é deletado do vetor! O que muda é o ponteiro inicio_da_fila.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Ele avança e o programa passa a ignorar aquela posição.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</a:rPr>
              <a:t>FLUXOGRAMA — COMO O SISTEMA DECIDE O QUE FAZER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0" y="914400"/>
            <a:ext cx="128016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91440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INÍCIO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0" cy="32004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19456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Exibe o Menu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0" cy="27432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423160"/>
            <a:ext cx="25603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4231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Lê opcao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291840"/>
            <a:ext cx="17373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3291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opcao=1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" y="3547872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Entrar na fila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51560" y="2880360"/>
            <a:ext cx="0" cy="4114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3291840"/>
            <a:ext cx="173736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3291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opcao=2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547872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Atender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880360"/>
            <a:ext cx="0" cy="41148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291840"/>
            <a:ext cx="17373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291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opcao=3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547872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Mostrar fila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2880360"/>
            <a:ext cx="0" cy="41148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3291840"/>
            <a:ext cx="17373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3291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opcao=0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3547872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2880360"/>
            <a:ext cx="0" cy="41148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0240" y="3794760"/>
            <a:ext cx="0" cy="594360"/>
          </a:xfrm>
          <a:prstGeom prst="line">
            <a:avLst/>
          </a:prstGeom>
          <a:noFill/>
          <a:ln w="12700">
            <a:solidFill>
              <a:srgbClr val="93A4C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920240" y="4389120"/>
            <a:ext cx="2651760" cy="0"/>
          </a:xfrm>
          <a:prstGeom prst="line">
            <a:avLst/>
          </a:prstGeom>
          <a:noFill/>
          <a:ln w="12700">
            <a:solidFill>
              <a:srgbClr val="93A4C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72000" y="2148840"/>
            <a:ext cx="0" cy="2240280"/>
          </a:xfrm>
          <a:prstGeom prst="line">
            <a:avLst/>
          </a:prstGeom>
          <a:noFill/>
          <a:ln w="12700">
            <a:solidFill>
              <a:srgbClr val="93A4C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14400" y="4407408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Volta ao início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3794760"/>
            <a:ext cx="0" cy="54864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4343400"/>
            <a:ext cx="10972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43434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</a:rPr>
              <a:t>SIMULAÇÃO — VENDO A FILA EM AÇÃO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24712"/>
            <a:ext cx="347472" cy="347472"/>
          </a:xfrm>
          <a:prstGeom prst="ellipse">
            <a:avLst/>
          </a:prstGeom>
          <a:solidFill>
            <a:srgbClr val="93A4C4"/>
          </a:solidFill>
          <a:ln w="12700">
            <a:solidFill>
              <a:srgbClr val="93A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247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14300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Início (fila vazia)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69848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50208" y="1069848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069848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9824" y="1069848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069848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14300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ini=1  fim=0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64792"/>
            <a:ext cx="859536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192938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9293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194767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Entrou: Cliente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874520"/>
            <a:ext cx="5943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87452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50208" y="1874520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874520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1874520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1874520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947672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ini=1  fim=1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56946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273405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7340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2752344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Entrou: Cliente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679192"/>
            <a:ext cx="5943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67919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50208" y="2679192"/>
            <a:ext cx="5943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0208" y="267919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12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0016" y="2679192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9824" y="2679192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679192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752344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ini=1  fim=2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353872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5387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" y="3557016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Entrou: Cliente 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0" y="3483864"/>
            <a:ext cx="5943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3483864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950208" y="3483864"/>
            <a:ext cx="5943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0208" y="3483864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12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0016" y="3483864"/>
            <a:ext cx="5943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3483864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8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49824" y="3483864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99632" y="3483864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3557016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ini=1  fim=3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17880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47472" y="4343400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343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" y="4361688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Atendido: Cliente 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4288536"/>
            <a:ext cx="5943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0" y="4288536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12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950208" y="4288536"/>
            <a:ext cx="5943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50208" y="4288536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8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00016" y="4288536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9824" y="4288536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99632" y="4288536"/>
            <a:ext cx="594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436168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ini=2  fim=3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18888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4C4"/>
                </a:solidFill>
              </a:rPr>
              <a:t>🔵 = primeiro da fila (será atendido)    |   ⬜ = posição vazia   |   ini/fim = ponteiros de controle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</a:rPr>
              <a:t>LIMITAÇÕES DO CÓDIGO E MELHORIAS POSSÍVEIS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Limitações do código atual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Fila linear: após 10 atendimentos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o vetor não se recicla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000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Tamanho fixo: máximo de 10 clientes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Sem persistência: dados somem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ao fechar o programa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1304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Sem nome: só guarda números,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não nomes de clientes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Como podemos melhorar?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16916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61848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Fila circular: reutiliza o espaço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do vetor automaticamente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4231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35000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Fila dinâmica: cresce conforme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a necessidade (lista encadeada)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31546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08152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Arquivo/banco de dados para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guardar os dados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8862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81304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Gravar nome + número para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3E"/>
                </a:solidFill>
              </a:rPr>
              <a:t>identificar melhor os clientes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FILAS NA COMPUTAÇÃO REAL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Sistemas Operacionais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O sistema operacional usa fila para decidir qual programa executa no processador (escalonamento de processos)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6984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Impressoras em Rede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90472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Documentos entram na fila de impressão — o primeiro a mandar imprime primeiro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6984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Servidores Web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490472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Requisições HTTP chegam em fila. O servidor atende uma por vez, na ordem de chegada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3580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Filas de Mensagens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Sistemas como RabbitMQ e Kafka usam filas para comunicar partes do sistema de forma segura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7432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2608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3580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BFS — Busca em Largura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56432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Algoritmo de grafo que usa fila para explorar nós vizinhos antes dos mais distantes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743200" cy="1783080"/>
          </a:xfrm>
          <a:prstGeom prst="rect">
            <a:avLst/>
          </a:prstGeom>
          <a:solidFill>
            <a:srgbClr val="0D1B3E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260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3580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Call Centers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456432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3A4C4"/>
                </a:solidFill>
              </a:rPr>
              <a:t>Ligações entram numa fila virtual. O próximo atendente livre atende o próximo da fila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6B6D4"/>
                </a:solidFill>
              </a:rPr>
              <a:t>CONCLUSÃO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029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 que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aprendemos?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0545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</a:rPr>
              <a:t>Fila é uma estrutura FIFO: primeiro que entra, primeiro que sai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0837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</a:rPr>
              <a:t>Usamos um vetor + dois ponteiros (inicio e fim) para controlar a fila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4787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51129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</a:rPr>
              <a:t>Enfileirar: adiciona no fim  |  Desenfileirar: remove do início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05079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01421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</a:rPr>
              <a:t>Sempre verificamos se a fila está cheia ou vazia antes de operar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55371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1713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</a:rPr>
              <a:t>Filas são usadas em sistemas reais: SO, impressoras, servidores, apps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800600"/>
            <a:ext cx="7772400" cy="0"/>
          </a:xfrm>
          <a:prstGeom prst="line">
            <a:avLst/>
          </a:prstGeom>
          <a:noFill/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46320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4C4"/>
                </a:solidFill>
              </a:rPr>
              <a:t>Estrutura de Dados  •  Lógica de Programação  •  </a:t>
            </a:r>
            <a:r>
              <a:rPr lang="pt-PT" altLang="en-US" sz="1000" dirty="0">
                <a:solidFill>
                  <a:srgbClr val="93A4C4"/>
                </a:solidFill>
              </a:rPr>
              <a:t>II</a:t>
            </a:r>
            <a:r>
              <a:rPr lang="en-US" sz="1000" dirty="0">
                <a:solidFill>
                  <a:srgbClr val="93A4C4"/>
                </a:solidFill>
              </a:rPr>
              <a:t>º Semestre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5339</Words>
  <Application>WPS Presentation</Application>
  <PresentationFormat>On-screen Show (16:9)</PresentationFormat>
  <Paragraphs>432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 Black</vt:lpstr>
      <vt:lpstr>Arial Black</vt:lpstr>
      <vt:lpstr>Arial Black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de Dados: Fila de Atendimento</dc:title>
  <dc:creator>PptxGenJS</dc:creator>
  <dc:subject>PptxGenJS Presentation</dc:subject>
  <cp:lastModifiedBy>PC</cp:lastModifiedBy>
  <cp:revision>4</cp:revision>
  <dcterms:created xsi:type="dcterms:W3CDTF">2026-04-16T16:29:00Z</dcterms:created>
  <dcterms:modified xsi:type="dcterms:W3CDTF">2026-04-15T13:41:49Z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214B8DD0A12548FEAB6E9481D888D011_13</vt:lpwstr>
  </property>
  <property fmtid="{D5CDD505-2E9C-101B-9397-08002B2CF9AE}" pid="3" name="KSOProductBuildVer">
    <vt:lpwstr>2070-12.2.0.23196</vt:lpwstr>
  </property>
</Properties>
</file>